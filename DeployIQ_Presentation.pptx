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408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2E86C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v1.0  · 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DeployIQ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Governance &amp; Deployment System</a:t>
            </a:r>
            <a:endParaRPr lang="en-US" sz="2200" b="1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200+ Checks  ·  14 Stages  ·  35+ Templates  ·  Python Automation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2011680" cy="329184"/>
          </a:xfrm>
          <a:prstGeom prst="roundRect">
            <a:avLst>
              <a:gd name="adj" fmla="val 27778"/>
            </a:avLst>
          </a:prstGeom>
          <a:solidFill>
            <a:srgbClr val="0D1F33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3375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Excel Templates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88920" y="3337560"/>
            <a:ext cx="2011680" cy="329184"/>
          </a:xfrm>
          <a:prstGeom prst="roundRect">
            <a:avLst>
              <a:gd name="adj" fmla="val 27778"/>
            </a:avLst>
          </a:prstGeom>
          <a:solidFill>
            <a:srgbClr val="0D1F33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33375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Python Scanner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0" y="3337560"/>
            <a:ext cx="2011680" cy="329184"/>
          </a:xfrm>
          <a:prstGeom prst="roundRect">
            <a:avLst>
              <a:gd name="adj" fmla="val 27778"/>
            </a:avLst>
          </a:prstGeom>
          <a:solidFill>
            <a:srgbClr val="0D1F33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3375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Worked Examples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69480" y="3337560"/>
            <a:ext cx="2011680" cy="329184"/>
          </a:xfrm>
          <a:prstGeom prst="roundRect">
            <a:avLst>
              <a:gd name="adj" fmla="val 27778"/>
            </a:avLst>
          </a:prstGeom>
          <a:solidFill>
            <a:srgbClr val="0D1F33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33375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Lifetime Updates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6263640"/>
            <a:ext cx="1219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Siddhi Gupta  ·  Power BI Practitioner  · 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000" b="1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Great Dashboards Get Abandoned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E8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issue is almost never technical. It is always process.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0D1F3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299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No Written Requirements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39572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 starts before the business question is documented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92024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0D1F3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20299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Stakeholders Not Aligned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34840" y="239572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 people have different expectations — none documented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38160" y="192024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0D1F3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0299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Data Never Validated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75320" y="239572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DAX is trusted. Source system is never compared.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0D1F3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7216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Users Never Trained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408736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link in an email is not onboarding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0" y="361188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0D1F3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37216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No Named Owner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34840" y="408736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refresh breaks — nobody is responsible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38160" y="361188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0D1F3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37216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Adoption Never Tracked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75320" y="408736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Usage drops to zero. Nobody notices.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0" y="6583680"/>
            <a:ext cx="1219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DeployIQ  ·  Siddhi Gupta  ·  Power BI Governance &amp; Deployment System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Introducing DeployIQ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8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complete 14-stage governance framework that prevents every failure mode above.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659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200+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27249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Individual Checks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8745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2E86C1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9659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291840" y="27249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Stages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8745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2E86C1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9659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35+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126480" y="27249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 Templates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61120" y="18745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2E86C1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0" y="19659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$30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8961120" y="27249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One-Time Price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520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DeployIQ Contains: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9776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5 Core Modules covering all 14 deployment stages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36168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Python Workspace Scanner via REST API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745736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3 Bonus Modules: Fabric, Copilot, Training Deck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512978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Worked Examples — 2 complete pre-filled deployments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551383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Complete Documentation: User Guide, FAQ, Troubleshooting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0" y="6583680"/>
            <a:ext cx="1219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DeployIQ  ·  Siddhi Gupta  ·  Power BI Governance &amp; Deployment System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14-Stage Deployment Framework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743200" cy="3657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Development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0D1F33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9339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Initiation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9260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0D1F33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99923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2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Stakeholder Alignment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39319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0D1F33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00507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3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Source Assessment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82112" y="1417320"/>
            <a:ext cx="2743200" cy="36576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5" name="Text 13"/>
          <p:cNvSpPr/>
          <p:nvPr/>
        </p:nvSpPr>
        <p:spPr>
          <a:xfrm>
            <a:off x="3182112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During Development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27832" y="19202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0D1F3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199339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4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Naming Conventions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27832" y="29260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0D1F3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73552" y="299923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5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DAX Quality Review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27832" y="39319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0D1F3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73552" y="400507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6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Model Review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89904" y="1417320"/>
            <a:ext cx="2743200" cy="365760"/>
          </a:xfrm>
          <a:prstGeom prst="rect">
            <a:avLst/>
          </a:prstGeom>
          <a:solidFill>
            <a:srgbClr val="D68910"/>
          </a:solidFill>
          <a:ln/>
        </p:spPr>
      </p:sp>
      <p:sp>
        <p:nvSpPr>
          <p:cNvPr id="23" name="Text 21"/>
          <p:cNvSpPr/>
          <p:nvPr/>
        </p:nvSpPr>
        <p:spPr>
          <a:xfrm>
            <a:off x="6089904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Going Live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35624" y="19202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0D1F33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199339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7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Accuracy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35624" y="29260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0D1F33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81344" y="299923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8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UAT Testing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35624" y="39319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0D1F33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81344" y="400507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9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RLS Security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35624" y="49377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0D1F33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81344" y="501091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10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997696" y="1417320"/>
            <a:ext cx="274320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8997696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Launch + Governance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043416" y="19202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0D1F3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89136" y="199339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11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Pipeline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043416" y="29260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0D1F3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89136" y="299923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12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Gateway &amp; Refresh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043416" y="39319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0D1F3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89136" y="400507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13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Adoption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043416" y="49377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0D1F3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89136" y="501091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14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Ongoing Governance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0" y="6583680"/>
            <a:ext cx="1219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DeployIQ  ·  Siddhi Gupta  ·  Power BI Governance &amp; Deployment System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Core Modules — What's Inside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640080" cy="80467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88720" y="1463040"/>
            <a:ext cx="10241280" cy="804672"/>
          </a:xfrm>
          <a:prstGeom prst="roundRect">
            <a:avLst>
              <a:gd name="adj" fmla="val 9091"/>
            </a:avLst>
          </a:prstGeom>
          <a:solidFill>
            <a:srgbClr val="0D1F33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1536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Pre-Development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84708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Intake Form · Stakeholder Checklist · Data Source Matrix · Workspace Planning · BRD · Data Dictionary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241280" y="166420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2E86C1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0" y="16642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files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640080" cy="80467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2316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88720" y="2423160"/>
            <a:ext cx="10241280" cy="804672"/>
          </a:xfrm>
          <a:prstGeom prst="roundRect">
            <a:avLst>
              <a:gd name="adj" fmla="val 9091"/>
            </a:avLst>
          </a:prstGeom>
          <a:solidFill>
            <a:srgbClr val="0D1F33"/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24963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 Standards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28072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Naming Convention Card · DAX Quality Checklist · Model Review · Design Standards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241280" y="262432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E8449"/>
          </a:solidFill>
          <a:ln/>
        </p:spPr>
      </p:sp>
      <p:sp>
        <p:nvSpPr>
          <p:cNvPr id="19" name="Text 17"/>
          <p:cNvSpPr/>
          <p:nvPr/>
        </p:nvSpPr>
        <p:spPr>
          <a:xfrm>
            <a:off x="10241280" y="26243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files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640080" cy="804672"/>
          </a:xfrm>
          <a:prstGeom prst="rect">
            <a:avLst/>
          </a:prstGeom>
          <a:solidFill>
            <a:srgbClr val="D6891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38328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188720" y="3383280"/>
            <a:ext cx="10241280" cy="804672"/>
          </a:xfrm>
          <a:prstGeom prst="roundRect">
            <a:avLst>
              <a:gd name="adj" fmla="val 9091"/>
            </a:avLst>
          </a:prstGeom>
          <a:solidFill>
            <a:srgbClr val="0D1F33"/>
          </a:solidFill>
          <a:ln/>
        </p:spPr>
      </p:sp>
      <p:sp>
        <p:nvSpPr>
          <p:cNvPr id="23" name="Text 21"/>
          <p:cNvSpPr/>
          <p:nvPr/>
        </p:nvSpPr>
        <p:spPr>
          <a:xfrm>
            <a:off x="1325880" y="3456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Pre-Deployment Testing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25880" y="37673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UAT Template · RLS Test Matrix · Performance Benchmarks · Data Accuracy Log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241280" y="358444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D68910"/>
          </a:solidFill>
          <a:ln/>
        </p:spPr>
      </p:sp>
      <p:sp>
        <p:nvSpPr>
          <p:cNvPr id="26" name="Text 24"/>
          <p:cNvSpPr/>
          <p:nvPr/>
        </p:nvSpPr>
        <p:spPr>
          <a:xfrm>
            <a:off x="10241280" y="35844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files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343400"/>
            <a:ext cx="640080" cy="8046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34340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1188720" y="4343400"/>
            <a:ext cx="10241280" cy="804672"/>
          </a:xfrm>
          <a:prstGeom prst="roundRect">
            <a:avLst>
              <a:gd name="adj" fmla="val 9091"/>
            </a:avLst>
          </a:prstGeom>
          <a:solidFill>
            <a:srgbClr val="0D1F33"/>
          </a:solidFill>
          <a:ln/>
        </p:spPr>
      </p:sp>
      <p:sp>
        <p:nvSpPr>
          <p:cNvPr id="30" name="Text 28"/>
          <p:cNvSpPr/>
          <p:nvPr/>
        </p:nvSpPr>
        <p:spPr>
          <a:xfrm>
            <a:off x="1325880" y="44165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&amp; Launch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25880" y="47274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Checklist · Go-Live Email Templates · Refresh Failure Alert · Gateway Config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0241280" y="45445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10241280" y="45445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files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5303520"/>
            <a:ext cx="640080" cy="804672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530352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1188720" y="5303520"/>
            <a:ext cx="10241280" cy="804672"/>
          </a:xfrm>
          <a:prstGeom prst="roundRect">
            <a:avLst>
              <a:gd name="adj" fmla="val 9091"/>
            </a:avLst>
          </a:prstGeom>
          <a:solidFill>
            <a:srgbClr val="0D1F33"/>
          </a:solidFill>
          <a:ln/>
        </p:spPr>
      </p:sp>
      <p:sp>
        <p:nvSpPr>
          <p:cNvPr id="37" name="Text 35"/>
          <p:cNvSpPr/>
          <p:nvPr/>
        </p:nvSpPr>
        <p:spPr>
          <a:xfrm>
            <a:off x="1325880" y="5376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Post-Launch Governance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325880" y="56875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30-Day Adoption Tracker · Maintenance Schedule · Change Request · Decommission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0241280" y="550468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8E44AD"/>
          </a:solidFill>
          <a:ln/>
        </p:spPr>
      </p:sp>
      <p:sp>
        <p:nvSpPr>
          <p:cNvPr id="40" name="Text 38"/>
          <p:cNvSpPr/>
          <p:nvPr/>
        </p:nvSpPr>
        <p:spPr>
          <a:xfrm>
            <a:off x="10241280" y="550468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files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0" y="6583680"/>
            <a:ext cx="1219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DeployIQ  ·  Siddhi Gupta  ·  Power BI Governance &amp; Deployment System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ADVANTAGES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DeployIQ Stands Apart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0D1F33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6420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200+ Field-Tested Checks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generic advice — every item addresses a real deployment failure mode observed across real projects.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0D1F33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66420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 Python Workspace Scanner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205740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Connects to Power BI REST API. Scans your live workspace. Auto-populates checklist in 30 seconds.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0D1F33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1868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Worked Examples Included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61188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complete deployments pre-filled — Sales Dashboard &amp; HR Analytics. See what done right looks like.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310896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0D1F33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21868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 RLS Test Matrix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361188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Systematic security testing framework. Every role × every data segment. Nothing left untested.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6344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0D1F33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7731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Adoption Tracker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16636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30-day post-launch tracking with auto-calculated charts. Catch low adoption before it becomes failure.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466344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0D1F33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47731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 24-Month Update Commitment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516636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evolves. DeployIQ evolves with it. Minor updates free for 24 months from purchase.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0" y="6583680"/>
            <a:ext cx="1219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DeployIQ  ·  Siddhi Gupta  ·  Power BI Governance &amp; Deployment System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PURCHASE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BI Professionals Buy DeployIQ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6858000" cy="1078992"/>
          </a:xfrm>
          <a:prstGeom prst="roundRect">
            <a:avLst>
              <a:gd name="adj" fmla="val 8475"/>
            </a:avLst>
          </a:prstGeom>
          <a:solidFill>
            <a:srgbClr val="0D1F3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Look Senior Before You Feel Senior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 a 14-stage deployment framework to any client. Instant credibility before the first meeting ends.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715768"/>
            <a:ext cx="6858000" cy="1078992"/>
          </a:xfrm>
          <a:prstGeom prst="roundRect">
            <a:avLst>
              <a:gd name="adj" fmla="val 8475"/>
            </a:avLst>
          </a:prstGeom>
          <a:solidFill>
            <a:srgbClr val="0D1F3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80720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One System for Every Project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3172968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start from scratch again. Same framework, every client, every deployment.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922776"/>
            <a:ext cx="6858000" cy="1078992"/>
          </a:xfrm>
          <a:prstGeom prst="roundRect">
            <a:avLst>
              <a:gd name="adj" fmla="val 8475"/>
            </a:avLst>
          </a:prstGeom>
          <a:solidFill>
            <a:srgbClr val="0D1F3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01421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Protect Yourself from Scope Creep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4379976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Signed intake form = documented scope. 'This is not what I wanted' becomes a thing of the past.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5129784"/>
            <a:ext cx="6858000" cy="1078992"/>
          </a:xfrm>
          <a:prstGeom prst="roundRect">
            <a:avLst>
              <a:gd name="adj" fmla="val 8475"/>
            </a:avLst>
          </a:prstGeom>
          <a:solidFill>
            <a:srgbClr val="0D1F3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522122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Ship Dashboards That Get Used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5586984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Adoption tracking and user training built into the framework. Not an afterthought.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89520" y="1508760"/>
            <a:ext cx="4297680" cy="4846320"/>
          </a:xfrm>
          <a:prstGeom prst="roundRect">
            <a:avLst>
              <a:gd name="adj" fmla="val 2553"/>
            </a:avLst>
          </a:prstGeom>
          <a:solidFill>
            <a:srgbClr val="0D1F33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16459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Alternatives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0" y="219456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0D1F3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09560" y="22494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Tools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909560" y="24963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₹40,000+/month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772400" y="2944368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0D1F33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09560" y="29992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Blog Checklists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909560" y="3246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89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5-10 items only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772400" y="3694176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0D1F33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9560" y="3749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ChatGPT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909560" y="39959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89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Generic, no templates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772400" y="4443984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0D1F33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09560" y="44988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It Yourself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909560" y="47457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89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40+ hours of work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772400" y="5193792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1A3557"/>
          </a:solidFill>
          <a:ln w="25400">
            <a:solidFill>
              <a:srgbClr val="1E84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09560" y="52486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DeployIQ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909560" y="54955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₹3000 — one time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0" y="6583680"/>
            <a:ext cx="1219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DeployIQ  ·  Siddhi Gupta  ·  Power BI Governance &amp; Deployment System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AUDIENCE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DeployIQ Is Built For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5577840" cy="2194560"/>
          </a:xfrm>
          <a:prstGeom prst="roundRect">
            <a:avLst>
              <a:gd name="adj" fmla="val 5000"/>
            </a:avLst>
          </a:prstGeom>
          <a:solidFill>
            <a:srgbClr val="0D1F33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08760"/>
            <a:ext cx="5577840" cy="47548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0876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💼  Freelance Power BI Consultant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7568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Looks senior before feeling senior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45973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Wins more clients with structured process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84378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Handles scope creep with signed intake forms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22783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Reduces rework on every project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1508760"/>
            <a:ext cx="5577840" cy="2194560"/>
          </a:xfrm>
          <a:prstGeom prst="roundRect">
            <a:avLst>
              <a:gd name="adj" fmla="val 5000"/>
            </a:avLst>
          </a:prstGeom>
          <a:solidFill>
            <a:srgbClr val="0D1F33"/>
          </a:solidFill>
          <a:ln w="19050">
            <a:solidFill>
              <a:srgbClr val="1E84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508760"/>
            <a:ext cx="5577840" cy="47548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50876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In-House BI Analyst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07568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Replaces ad hoc deployments with system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245973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Reduces post-launch complaints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284378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Creates documented proof of process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322783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Tracks adoption and proves dashboard value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886200"/>
            <a:ext cx="5577840" cy="2194560"/>
          </a:xfrm>
          <a:prstGeom prst="roundRect">
            <a:avLst>
              <a:gd name="adj" fmla="val 5000"/>
            </a:avLst>
          </a:prstGeom>
          <a:solidFill>
            <a:srgbClr val="0D1F33"/>
          </a:solidFill>
          <a:ln w="19050">
            <a:solidFill>
              <a:srgbClr val="D6891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886200"/>
            <a:ext cx="5577840" cy="475488"/>
          </a:xfrm>
          <a:prstGeom prst="rect">
            <a:avLst/>
          </a:prstGeom>
          <a:solidFill>
            <a:srgbClr val="D68910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88620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 Analytics Manager / BI Lead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45312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Standardizes team delivery process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83717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Onboards new analysts faster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522122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Retains knowledge when team members leave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560527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Reports governance status to leadership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3886200"/>
            <a:ext cx="5577840" cy="2194560"/>
          </a:xfrm>
          <a:prstGeom prst="roundRect">
            <a:avLst>
              <a:gd name="adj" fmla="val 5000"/>
            </a:avLst>
          </a:prstGeom>
          <a:solidFill>
            <a:srgbClr val="0D1F33"/>
          </a:solidFill>
          <a:ln w="19050">
            <a:solidFill>
              <a:srgbClr val="8E44A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3886200"/>
            <a:ext cx="5577840" cy="47548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388620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 BI Agency / Consulting Firm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2240" y="445312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Consistent client delivery across projects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483717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Professional documentation for every engagement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92240" y="522122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Saves 20-40 billable hours per project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560527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Team license for up to 5 analysts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0" y="6583680"/>
            <a:ext cx="1219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DeployIQ  ·  Siddhi Gupta  ·  Power BI Governance &amp; Deployment System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AUTOMATION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Workspace Scanner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8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Scans your live Power BI workspace via REST API — pre-populates governance checklist in 30 seconds.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120640" cy="420624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828800"/>
            <a:ext cx="512064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28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SCANNER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⏰  45-60 minutes manual work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04495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  Fill every cell by hand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66674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Easy to miss critical items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28853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😓  Tedious and error-prone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91032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Only as good as your memory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15000" y="3657600"/>
            <a:ext cx="822960" cy="4114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0" y="36576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94960" y="4160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scanner.py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675120" y="1828800"/>
            <a:ext cx="5120640" cy="4206240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19" name="Shape 17"/>
          <p:cNvSpPr/>
          <p:nvPr/>
        </p:nvSpPr>
        <p:spPr>
          <a:xfrm>
            <a:off x="6675120" y="1828800"/>
            <a:ext cx="5120640" cy="41148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1828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SCANNER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4231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30 seconds to run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304495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 Auto-populated checklist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366674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Nothing missed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428853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😎  Just review and sign off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491032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Professional Excel output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1447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Scanner Detects: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0" y="6583680"/>
            <a:ext cx="1219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DeployIQ  ·  Siddhi Gupta  ·  Power BI Governance &amp; Deployment System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BONUS MODULES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Bonus Modules — Future-Ready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3749040" cy="4892040"/>
          </a:xfrm>
          <a:prstGeom prst="roundRect">
            <a:avLst>
              <a:gd name="adj" fmla="val 2927"/>
            </a:avLst>
          </a:prstGeom>
          <a:solidFill>
            <a:srgbClr val="0D1F33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0020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002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BONUS 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Fabric Readiness Checklist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7004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28-point assessment before Fabric migration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31089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Licensing and cost comparison framework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35478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Technical readiness checks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98678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Migration Planner with phased approach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44256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Organization &amp; skills readiness review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5486400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2E86C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5321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 adoption is the #1 BI conversation in 2026. Every team will face this question.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315968" y="1463040"/>
            <a:ext cx="3749040" cy="4892040"/>
          </a:xfrm>
          <a:prstGeom prst="roundRect">
            <a:avLst>
              <a:gd name="adj" fmla="val 2927"/>
            </a:avLst>
          </a:prstGeom>
          <a:solidFill>
            <a:srgbClr val="0D1F33"/>
          </a:solidFill>
          <a:ln w="19050">
            <a:solidFill>
              <a:srgbClr val="1E84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53128" y="160020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E8449"/>
          </a:solidFill>
          <a:ln/>
        </p:spPr>
      </p:sp>
      <p:sp>
        <p:nvSpPr>
          <p:cNvPr id="19" name="Text 17"/>
          <p:cNvSpPr/>
          <p:nvPr/>
        </p:nvSpPr>
        <p:spPr>
          <a:xfrm>
            <a:off x="4453128" y="16002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BONUS B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453128" y="199339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Copilot Governance Policy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53128" y="267004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Complete AI governance policy template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53128" y="31089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Approved and prohibited use cases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53128" y="35478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Copilot output validation checklist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53128" y="398678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Risk assessment matrix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453128" y="44256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Copilot usage log for audit trail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407408" y="5486400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1E8449"/>
          </a:solidFill>
          <a:ln/>
        </p:spPr>
      </p:sp>
      <p:sp>
        <p:nvSpPr>
          <p:cNvPr id="27" name="Text 25"/>
          <p:cNvSpPr/>
          <p:nvPr/>
        </p:nvSpPr>
        <p:spPr>
          <a:xfrm>
            <a:off x="4498848" y="55321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 BI is here. Governance is mandatory. This template is ready in minutes.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266176" y="1463040"/>
            <a:ext cx="3749040" cy="4892040"/>
          </a:xfrm>
          <a:prstGeom prst="roundRect">
            <a:avLst>
              <a:gd name="adj" fmla="val 2927"/>
            </a:avLst>
          </a:prstGeom>
          <a:solidFill>
            <a:srgbClr val="0D1F33"/>
          </a:solidFill>
          <a:ln w="19050">
            <a:solidFill>
              <a:srgbClr val="D6891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03336" y="160020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D68910"/>
          </a:solidFill>
          <a:ln/>
        </p:spPr>
      </p:sp>
      <p:sp>
        <p:nvSpPr>
          <p:cNvPr id="30" name="Text 28"/>
          <p:cNvSpPr/>
          <p:nvPr/>
        </p:nvSpPr>
        <p:spPr>
          <a:xfrm>
            <a:off x="8403336" y="16002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BONUS 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03336" y="199339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Stakeholder Training Deck Template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03336" y="267004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15-slide PowerPoint — fully customizable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403336" y="31089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Navigation guide for end users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403336" y="35478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KPI definition slides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403336" y="398678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Filter and slicer how-to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403336" y="44256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Support contact structure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357616" y="5486400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D68910"/>
          </a:solidFill>
          <a:ln/>
        </p:spPr>
      </p:sp>
      <p:sp>
        <p:nvSpPr>
          <p:cNvPr id="38" name="Text 36"/>
          <p:cNvSpPr/>
          <p:nvPr/>
        </p:nvSpPr>
        <p:spPr>
          <a:xfrm>
            <a:off x="8449056" y="55321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Untrained users abandon dashboards. This deck prevents the #1 adoption failure.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0" y="6583680"/>
            <a:ext cx="1219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DeployIQ  ·  Siddhi Gupta  ·  Power BI Governance &amp; Deployment System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DeployIQ vs The Alternatives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926080" cy="384048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508760"/>
            <a:ext cx="1828800" cy="384048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508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Blog Posts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12080" y="1508760"/>
            <a:ext cx="2011680" cy="384048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1508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Tools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223760" y="1508760"/>
            <a:ext cx="1828800" cy="384048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0" y="1508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ChatGPT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52560" y="1508760"/>
            <a:ext cx="2011680" cy="38404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0" y="1508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DeployIQ 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938528"/>
            <a:ext cx="2926080" cy="475488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193852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Specific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83280" y="1938528"/>
            <a:ext cx="1828800" cy="475488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19385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Sometimes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212080" y="1938528"/>
            <a:ext cx="2011680" cy="475488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19385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Rarely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223760" y="1938528"/>
            <a:ext cx="1828800" cy="475488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19385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Generic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052560" y="1938528"/>
            <a:ext cx="2011680" cy="475488"/>
          </a:xfrm>
          <a:prstGeom prst="rect">
            <a:avLst/>
          </a:prstGeom>
          <a:solidFill>
            <a:srgbClr val="0D2F4A"/>
          </a:solidFill>
          <a:ln/>
        </p:spPr>
      </p:sp>
      <p:sp>
        <p:nvSpPr>
          <p:cNvPr id="25" name="Text 23"/>
          <p:cNvSpPr/>
          <p:nvPr/>
        </p:nvSpPr>
        <p:spPr>
          <a:xfrm>
            <a:off x="9052560" y="19385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84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100%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2468880"/>
            <a:ext cx="2926080" cy="475488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46888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Checklist Depth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83280" y="2468880"/>
            <a:ext cx="1828800" cy="475488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24688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5-10 items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212080" y="2468880"/>
            <a:ext cx="2011680" cy="475488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31" name="Text 29"/>
          <p:cNvSpPr/>
          <p:nvPr/>
        </p:nvSpPr>
        <p:spPr>
          <a:xfrm>
            <a:off x="5212080" y="24688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Complex/Expensive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223760" y="2468880"/>
            <a:ext cx="1828800" cy="475488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33" name="Text 31"/>
          <p:cNvSpPr/>
          <p:nvPr/>
        </p:nvSpPr>
        <p:spPr>
          <a:xfrm>
            <a:off x="7223760" y="24688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~10 items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052560" y="2468880"/>
            <a:ext cx="2011680" cy="475488"/>
          </a:xfrm>
          <a:prstGeom prst="rect">
            <a:avLst/>
          </a:prstGeom>
          <a:solidFill>
            <a:srgbClr val="0D2F4A"/>
          </a:solidFill>
          <a:ln/>
        </p:spPr>
      </p:sp>
      <p:sp>
        <p:nvSpPr>
          <p:cNvPr id="35" name="Text 33"/>
          <p:cNvSpPr/>
          <p:nvPr/>
        </p:nvSpPr>
        <p:spPr>
          <a:xfrm>
            <a:off x="9052560" y="24688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84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200+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2999232"/>
            <a:ext cx="2926080" cy="475488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299923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 Templates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383280" y="2999232"/>
            <a:ext cx="1828800" cy="475488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39" name="Text 37"/>
          <p:cNvSpPr/>
          <p:nvPr/>
        </p:nvSpPr>
        <p:spPr>
          <a:xfrm>
            <a:off x="3383280" y="29992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None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212080" y="2999232"/>
            <a:ext cx="2011680" cy="475488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41" name="Text 39"/>
          <p:cNvSpPr/>
          <p:nvPr/>
        </p:nvSpPr>
        <p:spPr>
          <a:xfrm>
            <a:off x="5212080" y="299923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($$)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223760" y="2999232"/>
            <a:ext cx="1828800" cy="475488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43" name="Text 41"/>
          <p:cNvSpPr/>
          <p:nvPr/>
        </p:nvSpPr>
        <p:spPr>
          <a:xfrm>
            <a:off x="7223760" y="29992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None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052560" y="2999232"/>
            <a:ext cx="2011680" cy="475488"/>
          </a:xfrm>
          <a:prstGeom prst="rect">
            <a:avLst/>
          </a:prstGeom>
          <a:solidFill>
            <a:srgbClr val="0D2F4A"/>
          </a:solidFill>
          <a:ln/>
        </p:spPr>
      </p:sp>
      <p:sp>
        <p:nvSpPr>
          <p:cNvPr id="45" name="Text 43"/>
          <p:cNvSpPr/>
          <p:nvPr/>
        </p:nvSpPr>
        <p:spPr>
          <a:xfrm>
            <a:off x="9052560" y="299923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84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35+ files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3529584"/>
            <a:ext cx="2926080" cy="475488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352958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Worked Examples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383280" y="3529584"/>
            <a:ext cx="1828800" cy="475488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49" name="Text 47"/>
          <p:cNvSpPr/>
          <p:nvPr/>
        </p:nvSpPr>
        <p:spPr>
          <a:xfrm>
            <a:off x="3383280" y="352958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None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212080" y="3529584"/>
            <a:ext cx="2011680" cy="475488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51" name="Text 49"/>
          <p:cNvSpPr/>
          <p:nvPr/>
        </p:nvSpPr>
        <p:spPr>
          <a:xfrm>
            <a:off x="5212080" y="35295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None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223760" y="3529584"/>
            <a:ext cx="1828800" cy="475488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53" name="Text 51"/>
          <p:cNvSpPr/>
          <p:nvPr/>
        </p:nvSpPr>
        <p:spPr>
          <a:xfrm>
            <a:off x="7223760" y="352958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None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052560" y="3529584"/>
            <a:ext cx="2011680" cy="475488"/>
          </a:xfrm>
          <a:prstGeom prst="rect">
            <a:avLst/>
          </a:prstGeom>
          <a:solidFill>
            <a:srgbClr val="0D2F4A"/>
          </a:solidFill>
          <a:ln/>
        </p:spPr>
      </p:sp>
      <p:sp>
        <p:nvSpPr>
          <p:cNvPr id="55" name="Text 53"/>
          <p:cNvSpPr/>
          <p:nvPr/>
        </p:nvSpPr>
        <p:spPr>
          <a:xfrm>
            <a:off x="9052560" y="35295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84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2 complete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" y="4059936"/>
            <a:ext cx="2926080" cy="475488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57" name="Text 55"/>
          <p:cNvSpPr/>
          <p:nvPr/>
        </p:nvSpPr>
        <p:spPr>
          <a:xfrm>
            <a:off x="457200" y="405993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Automation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383280" y="4059936"/>
            <a:ext cx="1828800" cy="475488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59" name="Text 57"/>
          <p:cNvSpPr/>
          <p:nvPr/>
        </p:nvSpPr>
        <p:spPr>
          <a:xfrm>
            <a:off x="3383280" y="405993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None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212080" y="4059936"/>
            <a:ext cx="2011680" cy="475488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61" name="Text 59"/>
          <p:cNvSpPr/>
          <p:nvPr/>
        </p:nvSpPr>
        <p:spPr>
          <a:xfrm>
            <a:off x="5212080" y="405993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84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(at $500+/mo)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223760" y="4059936"/>
            <a:ext cx="1828800" cy="475488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63" name="Text 61"/>
          <p:cNvSpPr/>
          <p:nvPr/>
        </p:nvSpPr>
        <p:spPr>
          <a:xfrm>
            <a:off x="7223760" y="405993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None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9052560" y="4059936"/>
            <a:ext cx="2011680" cy="475488"/>
          </a:xfrm>
          <a:prstGeom prst="rect">
            <a:avLst/>
          </a:prstGeom>
          <a:solidFill>
            <a:srgbClr val="0D2F4A"/>
          </a:solidFill>
          <a:ln/>
        </p:spPr>
      </p:sp>
      <p:sp>
        <p:nvSpPr>
          <p:cNvPr id="65" name="Text 63"/>
          <p:cNvSpPr/>
          <p:nvPr/>
        </p:nvSpPr>
        <p:spPr>
          <a:xfrm>
            <a:off x="9052560" y="405993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84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Included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57200" y="4590288"/>
            <a:ext cx="2926080" cy="475488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67" name="Text 65"/>
          <p:cNvSpPr/>
          <p:nvPr/>
        </p:nvSpPr>
        <p:spPr>
          <a:xfrm>
            <a:off x="457200" y="459028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Adoption Tracking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383280" y="4590288"/>
            <a:ext cx="1828800" cy="475488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69" name="Text 67"/>
          <p:cNvSpPr/>
          <p:nvPr/>
        </p:nvSpPr>
        <p:spPr>
          <a:xfrm>
            <a:off x="3383280" y="459028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None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212080" y="4590288"/>
            <a:ext cx="2011680" cy="475488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71" name="Text 69"/>
          <p:cNvSpPr/>
          <p:nvPr/>
        </p:nvSpPr>
        <p:spPr>
          <a:xfrm>
            <a:off x="5212080" y="45902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84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(at $500+/mo)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7223760" y="4590288"/>
            <a:ext cx="1828800" cy="475488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73" name="Text 71"/>
          <p:cNvSpPr/>
          <p:nvPr/>
        </p:nvSpPr>
        <p:spPr>
          <a:xfrm>
            <a:off x="7223760" y="459028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None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9052560" y="4590288"/>
            <a:ext cx="2011680" cy="475488"/>
          </a:xfrm>
          <a:prstGeom prst="rect">
            <a:avLst/>
          </a:prstGeom>
          <a:solidFill>
            <a:srgbClr val="0D2F4A"/>
          </a:solidFill>
          <a:ln/>
        </p:spPr>
      </p:sp>
      <p:sp>
        <p:nvSpPr>
          <p:cNvPr id="75" name="Text 73"/>
          <p:cNvSpPr/>
          <p:nvPr/>
        </p:nvSpPr>
        <p:spPr>
          <a:xfrm>
            <a:off x="9052560" y="45902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84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Included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57200" y="5120640"/>
            <a:ext cx="2926080" cy="475488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77" name="Text 75"/>
          <p:cNvSpPr/>
          <p:nvPr/>
        </p:nvSpPr>
        <p:spPr>
          <a:xfrm>
            <a:off x="457200" y="512064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RLS Test Matrix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3383280" y="5120640"/>
            <a:ext cx="1828800" cy="475488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79" name="Text 77"/>
          <p:cNvSpPr/>
          <p:nvPr/>
        </p:nvSpPr>
        <p:spPr>
          <a:xfrm>
            <a:off x="3383280" y="51206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None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5212080" y="5120640"/>
            <a:ext cx="2011680" cy="475488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0" y="51206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None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7223760" y="5120640"/>
            <a:ext cx="1828800" cy="475488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83" name="Text 81"/>
          <p:cNvSpPr/>
          <p:nvPr/>
        </p:nvSpPr>
        <p:spPr>
          <a:xfrm>
            <a:off x="7223760" y="51206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None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9052560" y="5120640"/>
            <a:ext cx="2011680" cy="475488"/>
          </a:xfrm>
          <a:prstGeom prst="rect">
            <a:avLst/>
          </a:prstGeom>
          <a:solidFill>
            <a:srgbClr val="0D2F4A"/>
          </a:solidFill>
          <a:ln/>
        </p:spPr>
      </p:sp>
      <p:sp>
        <p:nvSpPr>
          <p:cNvPr id="85" name="Text 83"/>
          <p:cNvSpPr/>
          <p:nvPr/>
        </p:nvSpPr>
        <p:spPr>
          <a:xfrm>
            <a:off x="9052560" y="51206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84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Included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457200" y="5650992"/>
            <a:ext cx="2926080" cy="475488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87" name="Text 85"/>
          <p:cNvSpPr/>
          <p:nvPr/>
        </p:nvSpPr>
        <p:spPr>
          <a:xfrm>
            <a:off x="457200" y="565099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3383280" y="5650992"/>
            <a:ext cx="1828800" cy="475488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89" name="Text 87"/>
          <p:cNvSpPr/>
          <p:nvPr/>
        </p:nvSpPr>
        <p:spPr>
          <a:xfrm>
            <a:off x="3383280" y="56509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5212080" y="5650992"/>
            <a:ext cx="2011680" cy="475488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91" name="Text 89"/>
          <p:cNvSpPr/>
          <p:nvPr/>
        </p:nvSpPr>
        <p:spPr>
          <a:xfrm>
            <a:off x="5212080" y="56509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$500+/month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7223760" y="5650992"/>
            <a:ext cx="1828800" cy="475488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93" name="Text 91"/>
          <p:cNvSpPr/>
          <p:nvPr/>
        </p:nvSpPr>
        <p:spPr>
          <a:xfrm>
            <a:off x="7223760" y="56509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9052560" y="5650992"/>
            <a:ext cx="2011680" cy="475488"/>
          </a:xfrm>
          <a:prstGeom prst="rect">
            <a:avLst/>
          </a:prstGeom>
          <a:solidFill>
            <a:srgbClr val="0D2F4A"/>
          </a:solidFill>
          <a:ln/>
        </p:spPr>
      </p:sp>
      <p:sp>
        <p:nvSpPr>
          <p:cNvPr id="95" name="Text 93"/>
          <p:cNvSpPr/>
          <p:nvPr/>
        </p:nvSpPr>
        <p:spPr>
          <a:xfrm>
            <a:off x="9052560" y="56509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84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$30 once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0" y="6583680"/>
            <a:ext cx="1219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DeployIQ  ·  Siddhi Gupta  ·  Power BI Governance &amp; Deployment System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Simple, Honest Pricing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914400" y="1508760"/>
            <a:ext cx="4572000" cy="4892040"/>
          </a:xfrm>
          <a:prstGeom prst="roundRect">
            <a:avLst>
              <a:gd name="adj" fmla="val 3000"/>
            </a:avLst>
          </a:prstGeom>
          <a:solidFill>
            <a:srgbClr val="0D1F33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916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User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17627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2E8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914400" y="2999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one-time payment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34290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All 5 Core Modules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97280" y="38130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Master 200-Point Checklist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97280" y="419709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Python Workspace Scanner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97280" y="458114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3 Bonus Modules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97280" y="49651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Complete Documentation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97280" y="53492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Lifetime Minor Updates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97280" y="57332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Unlimited personal projects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75120" y="1508760"/>
            <a:ext cx="4572000" cy="4892040"/>
          </a:xfrm>
          <a:prstGeom prst="roundRect">
            <a:avLst>
              <a:gd name="adj" fmla="val 3000"/>
            </a:avLst>
          </a:prstGeom>
          <a:solidFill>
            <a:srgbClr val="0D1F33"/>
          </a:solidFill>
          <a:ln w="25400">
            <a:solidFill>
              <a:srgbClr val="1E84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1207008"/>
            <a:ext cx="1508760" cy="329184"/>
          </a:xfrm>
          <a:prstGeom prst="roundRect">
            <a:avLst>
              <a:gd name="adj" fmla="val 27778"/>
            </a:avLst>
          </a:prstGeom>
          <a:solidFill>
            <a:srgbClr val="1E8449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120700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PICK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675120" y="16916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License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75120" y="217627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E84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$60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6675120" y="2999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one-time · up to 5 analysts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34290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Everything in Single User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58000" y="38130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Up to 5 named analysts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58000" y="419709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Team version of all templates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58000" y="458114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Manager review workflow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58000" y="49651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Analyst name fields on each item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58000" y="53492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Team onboarding guide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58000" y="57332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Priority support response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14400" y="6473952"/>
            <a:ext cx="10332720" cy="274320"/>
          </a:xfrm>
          <a:prstGeom prst="roundRect">
            <a:avLst>
              <a:gd name="adj" fmla="val 20000"/>
            </a:avLst>
          </a:prstGeom>
          <a:solidFill>
            <a:srgbClr val="2E86C1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64739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 At $150/hr consulting rate — DeployIQ pays for itself in under 30 minutes of time saved.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0" y="6583680"/>
            <a:ext cx="1219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DeployIQ  ·  Siddharth Gupta  ·  Power BI Governance &amp; Deployment System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 PROOF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Market Says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155680" cy="1389888"/>
          </a:xfrm>
          <a:prstGeom prst="roundRect">
            <a:avLst>
              <a:gd name="adj" fmla="val 6579"/>
            </a:avLst>
          </a:prstGeom>
          <a:solidFill>
            <a:srgbClr val="0D1F33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45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🔴  r/PowerBI — 365K Members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601200" y="1645920"/>
            <a:ext cx="1783080" cy="274320"/>
          </a:xfrm>
          <a:prstGeom prst="roundRect">
            <a:avLst>
              <a:gd name="adj" fmla="val 20000"/>
            </a:avLst>
          </a:prstGeom>
          <a:solidFill>
            <a:srgbClr val="1E8449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0" y="1645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Pain Signal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40080" y="2029968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""Built a great dashboard and nobody uses it" — recurring post every week. The pain is real and universal."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090672"/>
            <a:ext cx="11155680" cy="1389888"/>
          </a:xfrm>
          <a:prstGeom prst="roundRect">
            <a:avLst>
              <a:gd name="adj" fmla="val 6579"/>
            </a:avLst>
          </a:prstGeom>
          <a:solidFill>
            <a:srgbClr val="0D1F33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821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🔵  Power BI Community Forum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01200" y="3182112"/>
            <a:ext cx="1783080" cy="274320"/>
          </a:xfrm>
          <a:prstGeom prst="roundRect">
            <a:avLst>
              <a:gd name="adj" fmla="val 20000"/>
            </a:avLst>
          </a:prstGeom>
          <a:solidFill>
            <a:srgbClr val="1E8449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0" y="31821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Demand Signal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0080" y="3566160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"Data governance and deployment best practices are among the most requested discussion topics across 250K+ certified professionals."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626864"/>
            <a:ext cx="11155680" cy="1389888"/>
          </a:xfrm>
          <a:prstGeom prst="roundRect">
            <a:avLst>
              <a:gd name="adj" fmla="val 6579"/>
            </a:avLst>
          </a:prstGeom>
          <a:solidFill>
            <a:srgbClr val="0D1F33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7183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Market Research 2026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01200" y="4718304"/>
            <a:ext cx="1783080" cy="274320"/>
          </a:xfrm>
          <a:prstGeom prst="roundRect">
            <a:avLst>
              <a:gd name="adj" fmla="val 20000"/>
            </a:avLst>
          </a:prstGeom>
          <a:solidFill>
            <a:srgbClr val="1E8449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0" y="47183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Gap Signal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40080" y="5102352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"Data quality tools market: $3.5B in 2026 → $10.8B by 2033. Enterprise tools consolidating — SMB gap completely unserved."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617220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2E86C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172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250,000+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Certified Power BI Pros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91840" y="617220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2E86C1"/>
          </a:solidFill>
          <a:ln/>
        </p:spPr>
      </p:sp>
      <p:sp>
        <p:nvSpPr>
          <p:cNvPr id="24" name="Text 22"/>
          <p:cNvSpPr/>
          <p:nvPr/>
        </p:nvSpPr>
        <p:spPr>
          <a:xfrm>
            <a:off x="3291840" y="6172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Affordable alternatives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26480" y="617220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2E86C1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6172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$30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$500+/month enterprise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961120" y="617220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2E86C1"/>
          </a:solidFill>
          <a:ln/>
        </p:spPr>
      </p:sp>
      <p:sp>
        <p:nvSpPr>
          <p:cNvPr id="28" name="Text 26"/>
          <p:cNvSpPr/>
          <p:nvPr/>
        </p:nvSpPr>
        <p:spPr>
          <a:xfrm>
            <a:off x="8961120" y="6172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Days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build from scratch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0" y="6583680"/>
            <a:ext cx="1219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DeployIQ  ·  Siddhi Gupta  ·  Power BI Governance &amp; Deployment System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STARTED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Using DeployIQ in 3 Steps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566160" cy="65836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2212848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0D1F33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591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Purchase &amp; Download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852928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 contra.com/deployiq · One-time payment · Immediate ZIP download · Works on any device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919472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2E86C1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4919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 2 minutes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43400" y="1554480"/>
            <a:ext cx="3566160" cy="65836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15544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4343400" y="2212848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0D1F3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23591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README &amp; Quick Start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0560" y="2852928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README_FIRST.pdf · Read 5-minute Quick Start Guide · Understand the 14-stage sequence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80560" y="4919472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1E8449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4919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 5 minutes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229600" y="1554480"/>
            <a:ext cx="3566160" cy="658368"/>
          </a:xfrm>
          <a:prstGeom prst="rect">
            <a:avLst/>
          </a:prstGeom>
          <a:solidFill>
            <a:srgbClr val="D6891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15544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8229600" y="2212848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0D1F33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66760" y="23591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Your Next Project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66760" y="2852928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Master Checklist · Start at Stage 1 · Never open Power BI Desktop until Stage 2 is complete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66760" y="4919472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D68910"/>
          </a:solidFill>
          <a:ln/>
        </p:spPr>
      </p:sp>
      <p:sp>
        <p:nvSpPr>
          <p:cNvPr id="26" name="Text 24"/>
          <p:cNvSpPr/>
          <p:nvPr/>
        </p:nvSpPr>
        <p:spPr>
          <a:xfrm>
            <a:off x="8366760" y="4919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 Ongoing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5760720"/>
            <a:ext cx="11155680" cy="640080"/>
          </a:xfrm>
          <a:prstGeom prst="roundRect">
            <a:avLst>
              <a:gd name="adj" fmla="val 14286"/>
            </a:avLst>
          </a:prstGeom>
          <a:solidFill>
            <a:srgbClr val="0D1F3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83387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🎁  Try Before You Buy:  Free 30-item starter checklist available on GitHub → github.com/</a:t>
            </a:r>
            <a:r>
              <a:rPr lang="en-US" sz="11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Gitsiddhi</a:t>
            </a: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</a:t>
            </a:r>
            <a:r>
              <a:rPr lang="en-US" sz="11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DeployIQ</a:t>
            </a: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-free-checklist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0" y="6583680"/>
            <a:ext cx="1219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DeployIQ  ·  Siddhi Gupta  ·  Power BI Governance &amp; Deployment System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dashboard deserves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8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process behind it.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63347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5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DeployIQ gives you that process.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26080" y="3246120"/>
            <a:ext cx="6309360" cy="1051560"/>
          </a:xfrm>
          <a:prstGeom prst="roundRect">
            <a:avLst>
              <a:gd name="adj" fmla="val 13043"/>
            </a:avLst>
          </a:prstGeom>
          <a:solidFill>
            <a:srgbClr val="2E86C1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333756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DeployIQ — $30 One-Time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926080" y="3822192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contra.com/</a:t>
            </a:r>
            <a:r>
              <a:rPr lang="en-US" sz="13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deployiq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617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200+ Checks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07792" y="4617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35+ Templates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84064" y="4617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Python Scanner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260336" y="4617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3 Bonus Modules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436608" y="4617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Free Updates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794760" y="5120640"/>
            <a:ext cx="4480560" cy="1207008"/>
          </a:xfrm>
          <a:prstGeom prst="roundRect">
            <a:avLst>
              <a:gd name="adj" fmla="val 7576"/>
            </a:avLst>
          </a:prstGeom>
          <a:solidFill>
            <a:srgbClr val="0D1F33"/>
          </a:solidFill>
          <a:ln/>
        </p:spPr>
      </p:sp>
      <p:sp>
        <p:nvSpPr>
          <p:cNvPr id="17" name="Text 15"/>
          <p:cNvSpPr/>
          <p:nvPr/>
        </p:nvSpPr>
        <p:spPr>
          <a:xfrm>
            <a:off x="3794760" y="523036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Siddhi Gupta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94760" y="559612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8C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Practitioner  ·  BI Governance Specialist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794760" y="58704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2E8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contra.com/deployiq  ·  github.com/</a:t>
            </a:r>
            <a:r>
              <a:rPr lang="en-US" sz="850" dirty="0" err="1">
                <a:solidFill>
                  <a:srgbClr val="2E8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gitsiddhi</a:t>
            </a:r>
            <a:r>
              <a:rPr lang="en-US" sz="850" dirty="0">
                <a:solidFill>
                  <a:srgbClr val="2E8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dev.to/</a:t>
            </a:r>
            <a:r>
              <a:rPr lang="en-US" sz="850" dirty="0" err="1">
                <a:solidFill>
                  <a:srgbClr val="2E8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sidiiiii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1698</Words>
  <Application>Microsoft Office PowerPoint</Application>
  <PresentationFormat>Widescreen</PresentationFormat>
  <Paragraphs>344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Courier New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Siddhi Gupta</cp:lastModifiedBy>
  <cp:revision>4</cp:revision>
  <dcterms:created xsi:type="dcterms:W3CDTF">2026-07-23T08:10:07Z</dcterms:created>
  <dcterms:modified xsi:type="dcterms:W3CDTF">2026-07-23T14:32:20Z</dcterms:modified>
</cp:coreProperties>
</file>